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RAG Mastery, Episode 1. We're walking through Project A from the RAG_Mastery_Projects.xlsx worksheet — a compliance-first RAG stack for allied-health practices in regulated jurisdictions. In the next 15 minutes we'll cover what the worksheet asks for, the four RAG patterns it names, the AWS architecture it specifies, and a live demo of all of it running. The repo link is on screen — pause it now if you want to clone alongside.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A worksheet states the problem precisely. Allied-health practices in regulated jurisdictions need marketing content that respects AHPRA in Australia, FTC in the US, and so on — rules that forbid testimonials, misleading claims, and unverified efficacy statements. The worksheet's RAG goal is explicit: ground every draft in three corpora — the regulator's rules, the practice's voice, and clinical evidence. The 'why RAG' is the line you should remember: a plain LLM produces a regulatory breach in the first paragraph. RAG forces every claim to a citable source. That's the door.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datasets, ten gigabytes plus. Three groups: regulator rules from AHPRA, FTC, GMC for the compliance side. PubMed and PMC Open Access for clinical evidence — filtered by MeSH terms for musculoskeletal scope. Kaggle medical transcriptions for de-identification practice. Common Crawl filtered to allied-health domains for tone analysis. These are exactly what the worksheet's Datasets section names — and they slot one-to-one into the three-corpora grounding model the worksheet wants. We'll see them flow through retrieval in a minute.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four named patterns straight from the worksheet's 'Patterns from SKILL.md' row. Each one solves a specific RAG failure mode. Hybrid plus rerank fixes 'recall is good but precision is bad.' Parent-child chunking fixes 'children are small enough to retrieve but too small to reason over.' Self-RAG fixes 'the LLM said something the citations don't actually support.' Output guardrails catch the things that slip past everything else. The rest of the talk is about how each one is implemented in the project — but the worksheet picked these four for a reason. They're orthogonal. You need all four for compliance-grade RAG.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worksheet doesn't just say 'deploy to AWS' — it names every service per layer. Bedrock for embedding AND drafting AND guardrails. OpenSearch Serverless for hybrid retrieval. Step Functions for orchestration. Langfuse self-hosted on ECS for traces. Every cell in this table maps to a switchable backend in the implementation. You flip one env flag — RAG_RETRIEVAL_BACKEND=aws_opensearch_serverless — and the same code path now talks to AOSS instead of pgvector. Same for the embedder, the drafter, the guardrails. That's why the factory pattern in the implementation matters: the worksheet's architecture row IS the production deploy.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slide on the project's architecture so you have context for the demo. Two FastAPI services. Postgres with pgvector for local dev — same code talks to OpenSearch Serverless in production. Airflow DAG for ingest. Two Angular portals on top. The thing that makes the worksheet's 'flip to AWS' promise real is the factory pattern — every load-bearing piece, drafter, embedder, reranker, retrieval, guardrails — has a factory that picks the implementation per env var. Local dev is zero-deps. Production is one pip extra and one env flag away. Now let's see the four patterns running.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patterns on one slide because they fit together. Hybrid plus rerank — BM25 from Postgres tsvector plus dense from pgvector, fused with RRF, then reranked. The three-corpora trick is the project's own contribution: instead of letting whichever corpus dominates a single ranking, the pipeline runs once per corpus so the drafter sees a balanced mix from regulator, voice, and evidence. Parent-child chunking is markdown-aware — headings become section anchors so citations look like Dataset#Section, not opaque [1]. Self-RAG: every sentence scored, hint-driven regenerate when ungrounded. Guardrails: 30 AHPRA rules in YAML, layered with Bedrock for semantic catches. Together — that's the compliance-grade RAG the worksheet is asking for.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Pre-recorded demo, ninety seconds. Regulator-shaped topic. Hit Generate. The coverage panel at the top tells me regulator and practice voice contributed; clinical evidence is missing because this is a regulatory question, not a clinical one. Each citation has a chip — deep teal for regulator, amber for voice. Faithfulness pill says 92 percent of sentences supported. Guardrails pill says zero violations. If I switch to a more aggressive drafter, faithfulness drops, the regenerate loop kicks in, and the JSON sidebar shows the hint Claude received before rewriting. All four patterns visible in one screen.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slide. The worksheet's Hands-on tasks section lists seventeen items. Twelve of the fourteen in-scope ones are implemented; the remaining three are pure operator infrastructure that's out of the RAG-functionality scope of this episode. The eval harness scores against the worksheet's own acceptance bars and writes an HTML report. Repo's linked below. Star it if it helped. Next episode tackles Project B in the series.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434A"/>
        </a:solidFill>
        <a:effectLst/>
      </p:bgPr>
    </p:bg>
    <p:spTree>
      <p:nvGrpSpPr>
        <p:cNvPr id="1" name=""/>
        <p:cNvGrpSpPr/>
        <p:nvPr/>
      </p:nvGrpSpPr>
      <p:grpSpPr/>
      <p:sp>
        <p:nvSpPr>
          <p:cNvPr id="2" name="TextBox 1"/>
          <p:cNvSpPr txBox="1"/>
          <p:nvPr/>
        </p:nvSpPr>
        <p:spPr>
          <a:xfrm>
            <a:off x="731520" y="1828800"/>
            <a:ext cx="10698480" cy="914400"/>
          </a:xfrm>
          <a:prstGeom prst="rect">
            <a:avLst/>
          </a:prstGeom>
          <a:noFill/>
        </p:spPr>
        <p:txBody>
          <a:bodyPr wrap="square">
            <a:spAutoFit/>
          </a:bodyPr>
          <a:lstStyle/>
          <a:p>
            <a:r>
              <a:rPr sz="3200" b="1">
                <a:solidFill>
                  <a:srgbClr val="F0B04A"/>
                </a:solidFill>
              </a:rPr>
              <a:t>RAG Mastery — Episode 1</a:t>
            </a:r>
          </a:p>
        </p:txBody>
      </p:sp>
      <p:sp>
        <p:nvSpPr>
          <p:cNvPr id="3" name="TextBox 2"/>
          <p:cNvSpPr txBox="1"/>
          <p:nvPr/>
        </p:nvSpPr>
        <p:spPr>
          <a:xfrm>
            <a:off x="731520" y="2651760"/>
            <a:ext cx="10698480" cy="1371600"/>
          </a:xfrm>
          <a:prstGeom prst="rect">
            <a:avLst/>
          </a:prstGeom>
          <a:noFill/>
        </p:spPr>
        <p:txBody>
          <a:bodyPr wrap="square">
            <a:spAutoFit/>
          </a:bodyPr>
          <a:lstStyle/>
          <a:p>
            <a:r>
              <a:rPr sz="4600" b="1">
                <a:solidFill>
                  <a:srgbClr val="FFFFFF"/>
                </a:solidFill>
              </a:rPr>
              <a:t>Regulated Healthcare Practice Content RAG</a:t>
            </a:r>
          </a:p>
        </p:txBody>
      </p:sp>
      <p:sp>
        <p:nvSpPr>
          <p:cNvPr id="4" name="TextBox 3"/>
          <p:cNvSpPr txBox="1"/>
          <p:nvPr/>
        </p:nvSpPr>
        <p:spPr>
          <a:xfrm>
            <a:off x="731520" y="4114800"/>
            <a:ext cx="10698480" cy="914400"/>
          </a:xfrm>
          <a:prstGeom prst="rect">
            <a:avLst/>
          </a:prstGeom>
          <a:noFill/>
        </p:spPr>
        <p:txBody>
          <a:bodyPr wrap="square">
            <a:spAutoFit/>
          </a:bodyPr>
          <a:lstStyle/>
          <a:p>
            <a:r>
              <a:rPr sz="2000" b="0">
                <a:solidFill>
                  <a:srgbClr val="FFFFFF"/>
                </a:solidFill>
              </a:rPr>
              <a:t>A compliance-first RAG stack — every claim must map to a citable source.</a:t>
            </a:r>
          </a:p>
        </p:txBody>
      </p:sp>
      <p:sp>
        <p:nvSpPr>
          <p:cNvPr id="5" name="TextBox 4"/>
          <p:cNvSpPr txBox="1"/>
          <p:nvPr/>
        </p:nvSpPr>
        <p:spPr>
          <a:xfrm>
            <a:off x="731520" y="5943600"/>
            <a:ext cx="10698480" cy="457200"/>
          </a:xfrm>
          <a:prstGeom prst="rect">
            <a:avLst/>
          </a:prstGeom>
          <a:noFill/>
        </p:spPr>
        <p:txBody>
          <a:bodyPr wrap="square">
            <a:spAutoFit/>
          </a:bodyPr>
          <a:lstStyle/>
          <a:p>
            <a:r>
              <a:rPr sz="1400" b="0">
                <a:solidFill>
                  <a:srgbClr val="F0B04A"/>
                </a:solidFill>
              </a:rPr>
              <a:t>github.com/javakishore-veleti/Regulated-Healthcare-Practice-Content-RAG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8434A"/>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r>
              <a:rPr sz="2800" b="1">
                <a:solidFill>
                  <a:srgbClr val="FFFFFF"/>
                </a:solidFill>
              </a:rPr>
              <a:t>Objective</a:t>
            </a:r>
          </a:p>
          <a:p>
            <a:r>
              <a:rPr sz="1400">
                <a:solidFill>
                  <a:srgbClr val="F0B04A"/>
                </a:solidFill>
              </a:rPr>
              <a:t>From the worksheet — "About this project"</a:t>
            </a:r>
          </a:p>
        </p:txBody>
      </p:sp>
      <p:sp>
        <p:nvSpPr>
          <p:cNvPr id="3" name="TextBox 2"/>
          <p:cNvSpPr txBox="1"/>
          <p:nvPr/>
        </p:nvSpPr>
        <p:spPr>
          <a:xfrm>
            <a:off x="548640" y="1280160"/>
            <a:ext cx="11064240" cy="4846320"/>
          </a:xfrm>
          <a:prstGeom prst="rect">
            <a:avLst/>
          </a:prstGeom>
          <a:noFill/>
        </p:spPr>
        <p:txBody>
          <a:bodyPr wrap="square">
            <a:spAutoFit/>
          </a:bodyPr>
          <a:lstStyle/>
          <a:p>
            <a:r>
              <a:rPr sz="1800" b="1">
                <a:solidFill>
                  <a:srgbClr val="1F2530"/>
                </a:solidFill>
              </a:rPr>
              <a:t>Business problem</a:t>
            </a:r>
          </a:p>
          <a:p>
            <a:r>
              <a:rPr sz="1800" b="0">
                <a:solidFill>
                  <a:srgbClr val="1F2530"/>
                </a:solidFill>
              </a:rPr>
              <a:t>  Allied-health practices in regulated jurisdictions need SEO content that complies with rules forbidding testimonials, misleading therapeutic claims, and unverified efficacy.</a:t>
            </a:r>
          </a:p>
          <a:p>
            <a:r>
              <a:rPr sz="1800" b="1">
                <a:solidFill>
                  <a:srgbClr val="1F2530"/>
                </a:solidFill>
              </a:rPr>
              <a:t>RAG goal</a:t>
            </a:r>
          </a:p>
          <a:p>
            <a:r>
              <a:rPr sz="1800" b="0">
                <a:solidFill>
                  <a:srgbClr val="1F2530"/>
                </a:solidFill>
              </a:rPr>
              <a:t>  Ground every draft in three corpora: regulator's published advertising rules · practice's own voice corpus · open-access clinical evidence.</a:t>
            </a:r>
          </a:p>
          <a:p>
            <a:r>
              <a:rPr sz="1800" b="1">
                <a:solidFill>
                  <a:srgbClr val="1F2530"/>
                </a:solidFill>
              </a:rPr>
              <a:t>Why RAG</a:t>
            </a:r>
          </a:p>
          <a:p>
            <a:r>
              <a:rPr sz="1800" b="0">
                <a:solidFill>
                  <a:srgbClr val="1F2530"/>
                </a:solidFill>
              </a:rPr>
              <a:t>  A plain LLM produces a regulatory breach in the first paragraph. RAG forces every claim to map to a retrievable, citable source — with a guardrail layer for banned phrases.</a:t>
            </a:r>
          </a:p>
        </p:txBody>
      </p:sp>
      <p:sp>
        <p:nvSpPr>
          <p:cNvPr id="4" name="TextBox 3"/>
          <p:cNvSpPr txBox="1"/>
          <p:nvPr/>
        </p:nvSpPr>
        <p:spPr>
          <a:xfrm>
            <a:off x="457200" y="6263640"/>
            <a:ext cx="11247120" cy="457200"/>
          </a:xfrm>
          <a:prstGeom prst="rect">
            <a:avLst/>
          </a:prstGeom>
          <a:noFill/>
        </p:spPr>
        <p:txBody>
          <a:bodyPr wrap="square">
            <a:spAutoFit/>
          </a:bodyPr>
          <a:lstStyle/>
          <a:p>
            <a:r>
              <a:rPr sz="1100" i="1">
                <a:solidFill>
                  <a:srgbClr val="888888"/>
                </a:solidFill>
              </a:rPr>
              <a:t>🖼  Visual: Excel screenshot of the 'About this project' rows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8434A"/>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r>
              <a:rPr sz="2800" b="1">
                <a:solidFill>
                  <a:srgbClr val="FFFFFF"/>
                </a:solidFill>
              </a:rPr>
              <a:t>Datasets</a:t>
            </a:r>
          </a:p>
          <a:p>
            <a:r>
              <a:rPr sz="1400">
                <a:solidFill>
                  <a:srgbClr val="F0B04A"/>
                </a:solidFill>
              </a:rPr>
              <a:t>From the worksheet — "Datasets" section, ≥ 10 GB combined</a:t>
            </a:r>
          </a:p>
        </p:txBody>
      </p:sp>
      <p:graphicFrame>
        <p:nvGraphicFramePr>
          <p:cNvPr id="3" name="Table 2"/>
          <p:cNvGraphicFramePr>
            <a:graphicFrameLocks noGrp="1"/>
          </p:cNvGraphicFramePr>
          <p:nvPr/>
        </p:nvGraphicFramePr>
        <p:xfrm>
          <a:off x="457200" y="1280160"/>
          <a:ext cx="11247120" cy="4114800"/>
        </p:xfrm>
        <a:graphic>
          <a:graphicData uri="http://schemas.openxmlformats.org/drawingml/2006/table">
            <a:tbl>
              <a:tblPr firstRow="1" bandRow="1">
                <a:tableStyleId>{5C22544A-7EE6-4342-B048-85BDC9FD1C3A}</a:tableStyleId>
              </a:tblPr>
              <a:tblGrid>
                <a:gridCol w="3749040"/>
                <a:gridCol w="3749040"/>
                <a:gridCol w="3749040"/>
              </a:tblGrid>
              <a:tr h="685800">
                <a:tc>
                  <a:txBody>
                    <a:bodyPr wrap="square"/>
                    <a:lstStyle/>
                    <a:p>
                      <a:r>
                        <a:rPr sz="1400" b="1">
                          <a:solidFill>
                            <a:srgbClr val="FFFFFF"/>
                          </a:solidFill>
                        </a:rPr>
                        <a:t>Dataset</a:t>
                      </a:r>
                    </a:p>
                  </a:txBody>
                  <a:tcPr>
                    <a:solidFill>
                      <a:srgbClr val="08434A"/>
                    </a:solidFill>
                  </a:tcPr>
                </a:tc>
                <a:tc>
                  <a:txBody>
                    <a:bodyPr wrap="square"/>
                    <a:lstStyle/>
                    <a:p>
                      <a:r>
                        <a:rPr sz="1400" b="1">
                          <a:solidFill>
                            <a:srgbClr val="FFFFFF"/>
                          </a:solidFill>
                        </a:rPr>
                        <a:t>Size</a:t>
                      </a:r>
                    </a:p>
                  </a:txBody>
                  <a:tcPr>
                    <a:solidFill>
                      <a:srgbClr val="08434A"/>
                    </a:solidFill>
                  </a:tcPr>
                </a:tc>
                <a:tc>
                  <a:txBody>
                    <a:bodyPr wrap="square"/>
                    <a:lstStyle/>
                    <a:p>
                      <a:r>
                        <a:rPr sz="1400" b="1">
                          <a:solidFill>
                            <a:srgbClr val="FFFFFF"/>
                          </a:solidFill>
                        </a:rPr>
                        <a:t>Role in the three-corpora model</a:t>
                      </a:r>
                    </a:p>
                  </a:txBody>
                  <a:tcPr>
                    <a:solidFill>
                      <a:srgbClr val="08434A"/>
                    </a:solidFill>
                  </a:tcPr>
                </a:tc>
              </a:tr>
              <a:tr h="685800">
                <a:tc>
                  <a:txBody>
                    <a:bodyPr wrap="square"/>
                    <a:lstStyle/>
                    <a:p>
                      <a:r>
                        <a:rPr sz="1300" b="0">
                          <a:solidFill>
                            <a:srgbClr val="1F2530"/>
                          </a:solidFill>
                        </a:rPr>
                        <a:t>Public regulator guidelines (AHPRA AU, FTC US, GMC UK)</a:t>
                      </a:r>
                    </a:p>
                  </a:txBody>
                  <a:tcPr/>
                </a:tc>
                <a:tc>
                  <a:txBody>
                    <a:bodyPr wrap="square"/>
                    <a:lstStyle/>
                    <a:p>
                      <a:r>
                        <a:rPr sz="1300" b="0">
                          <a:solidFill>
                            <a:srgbClr val="1F2530"/>
                          </a:solidFill>
                        </a:rPr>
                        <a:t>~50–100 MB</a:t>
                      </a:r>
                    </a:p>
                  </a:txBody>
                  <a:tcPr/>
                </a:tc>
                <a:tc>
                  <a:txBody>
                    <a:bodyPr wrap="square"/>
                    <a:lstStyle/>
                    <a:p>
                      <a:r>
                        <a:rPr sz="1300" b="0">
                          <a:solidFill>
                            <a:srgbClr val="1F2530"/>
                          </a:solidFill>
                        </a:rPr>
                        <a:t>Regulator corpus</a:t>
                      </a:r>
                    </a:p>
                  </a:txBody>
                  <a:tcPr/>
                </a:tc>
              </a:tr>
              <a:tr h="685800">
                <a:tc>
                  <a:txBody>
                    <a:bodyPr wrap="square"/>
                    <a:lstStyle/>
                    <a:p>
                      <a:r>
                        <a:rPr sz="1300" b="0">
                          <a:solidFill>
                            <a:srgbClr val="1F2530"/>
                          </a:solidFill>
                        </a:rPr>
                        <a:t>ncbi/pubmed (HuggingFace) — MeSH-filtered (MSK / chronic-pain)</a:t>
                      </a:r>
                    </a:p>
                  </a:txBody>
                  <a:tcPr/>
                </a:tc>
                <a:tc>
                  <a:txBody>
                    <a:bodyPr wrap="square"/>
                    <a:lstStyle/>
                    <a:p>
                      <a:r>
                        <a:rPr sz="1300" b="0">
                          <a:solidFill>
                            <a:srgbClr val="1F2530"/>
                          </a:solidFill>
                        </a:rPr>
                        <a:t>~25 GB → 6 GB filtered</a:t>
                      </a:r>
                    </a:p>
                  </a:txBody>
                  <a:tcPr/>
                </a:tc>
                <a:tc>
                  <a:txBody>
                    <a:bodyPr wrap="square"/>
                    <a:lstStyle/>
                    <a:p>
                      <a:r>
                        <a:rPr sz="1300" b="0">
                          <a:solidFill>
                            <a:srgbClr val="1F2530"/>
                          </a:solidFill>
                        </a:rPr>
                        <a:t>Clinical evidence corpus</a:t>
                      </a:r>
                    </a:p>
                  </a:txBody>
                  <a:tcPr/>
                </a:tc>
              </a:tr>
              <a:tr h="685800">
                <a:tc>
                  <a:txBody>
                    <a:bodyPr wrap="square"/>
                    <a:lstStyle/>
                    <a:p>
                      <a:r>
                        <a:rPr sz="1300" b="0">
                          <a:solidFill>
                            <a:srgbClr val="1F2530"/>
                          </a:solidFill>
                        </a:rPr>
                        <a:t>PMC Open Access Subset</a:t>
                      </a:r>
                    </a:p>
                  </a:txBody>
                  <a:tcPr/>
                </a:tc>
                <a:tc>
                  <a:txBody>
                    <a:bodyPr wrap="square"/>
                    <a:lstStyle/>
                    <a:p>
                      <a:r>
                        <a:rPr sz="1300" b="0">
                          <a:solidFill>
                            <a:srgbClr val="1F2530"/>
                          </a:solidFill>
                        </a:rPr>
                        <a:t>~50 GB → 5 GB sample</a:t>
                      </a:r>
                    </a:p>
                  </a:txBody>
                  <a:tcPr/>
                </a:tc>
                <a:tc>
                  <a:txBody>
                    <a:bodyPr wrap="square"/>
                    <a:lstStyle/>
                    <a:p>
                      <a:r>
                        <a:rPr sz="1300" b="0">
                          <a:solidFill>
                            <a:srgbClr val="1F2530"/>
                          </a:solidFill>
                        </a:rPr>
                        <a:t>Clinical evidence (full-text)</a:t>
                      </a:r>
                    </a:p>
                  </a:txBody>
                  <a:tcPr/>
                </a:tc>
              </a:tr>
              <a:tr h="685800">
                <a:tc>
                  <a:txBody>
                    <a:bodyPr wrap="square"/>
                    <a:lstStyle/>
                    <a:p>
                      <a:r>
                        <a:rPr sz="1300" b="0">
                          <a:solidFill>
                            <a:srgbClr val="1F2530"/>
                          </a:solidFill>
                        </a:rPr>
                        <a:t>Kaggle: medicaltranscriptions (tboyle10)</a:t>
                      </a:r>
                    </a:p>
                  </a:txBody>
                  <a:tcPr/>
                </a:tc>
                <a:tc>
                  <a:txBody>
                    <a:bodyPr wrap="square"/>
                    <a:lstStyle/>
                    <a:p>
                      <a:r>
                        <a:rPr sz="1300" b="0">
                          <a:solidFill>
                            <a:srgbClr val="1F2530"/>
                          </a:solidFill>
                        </a:rPr>
                        <a:t>~1 GB</a:t>
                      </a:r>
                    </a:p>
                  </a:txBody>
                  <a:tcPr/>
                </a:tc>
                <a:tc>
                  <a:txBody>
                    <a:bodyPr wrap="square"/>
                    <a:lstStyle/>
                    <a:p>
                      <a:r>
                        <a:rPr sz="1300" b="0">
                          <a:solidFill>
                            <a:srgbClr val="1F2530"/>
                          </a:solidFill>
                        </a:rPr>
                        <a:t>De-id practice / synthetic notes</a:t>
                      </a:r>
                    </a:p>
                  </a:txBody>
                  <a:tcPr/>
                </a:tc>
              </a:tr>
              <a:tr h="685800">
                <a:tc>
                  <a:txBody>
                    <a:bodyPr wrap="square"/>
                    <a:lstStyle/>
                    <a:p>
                      <a:r>
                        <a:rPr sz="1300" b="0">
                          <a:solidFill>
                            <a:srgbClr val="1F2530"/>
                          </a:solidFill>
                        </a:rPr>
                        <a:t>Common Crawl (allied-health domains, filtered)</a:t>
                      </a:r>
                    </a:p>
                  </a:txBody>
                  <a:tcPr/>
                </a:tc>
                <a:tc>
                  <a:txBody>
                    <a:bodyPr wrap="square"/>
                    <a:lstStyle/>
                    <a:p>
                      <a:r>
                        <a:rPr sz="1300" b="0">
                          <a:solidFill>
                            <a:srgbClr val="1F2530"/>
                          </a:solidFill>
                        </a:rPr>
                        <a:t>~3 GB</a:t>
                      </a:r>
                    </a:p>
                  </a:txBody>
                  <a:tcPr/>
                </a:tc>
                <a:tc>
                  <a:txBody>
                    <a:bodyPr wrap="square"/>
                    <a:lstStyle/>
                    <a:p>
                      <a:r>
                        <a:rPr sz="1300" b="0">
                          <a:solidFill>
                            <a:srgbClr val="1F2530"/>
                          </a:solidFill>
                        </a:rPr>
                        <a:t>Practice-voice / tone corpus</a:t>
                      </a:r>
                    </a:p>
                  </a:txBody>
                  <a:tcPr/>
                </a:tc>
              </a:tr>
            </a:tbl>
          </a:graphicData>
        </a:graphic>
      </p:graphicFrame>
      <p:sp>
        <p:nvSpPr>
          <p:cNvPr id="4" name="TextBox 3"/>
          <p:cNvSpPr txBox="1"/>
          <p:nvPr/>
        </p:nvSpPr>
        <p:spPr>
          <a:xfrm>
            <a:off x="457200" y="6263640"/>
            <a:ext cx="11247120" cy="457200"/>
          </a:xfrm>
          <a:prstGeom prst="rect">
            <a:avLst/>
          </a:prstGeom>
          <a:noFill/>
        </p:spPr>
        <p:txBody>
          <a:bodyPr wrap="square">
            <a:spAutoFit/>
          </a:bodyPr>
          <a:lstStyle/>
          <a:p>
            <a:r>
              <a:rPr sz="1100" i="1">
                <a:solidFill>
                  <a:srgbClr val="888888"/>
                </a:solidFill>
              </a:rPr>
              <a:t>🖼  Visual: Excel screenshot of the Datasets table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8434A"/>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r>
              <a:rPr sz="2800" b="1">
                <a:solidFill>
                  <a:srgbClr val="FFFFFF"/>
                </a:solidFill>
              </a:rPr>
              <a:t>Design patterns</a:t>
            </a:r>
          </a:p>
          <a:p>
            <a:r>
              <a:rPr sz="1400">
                <a:solidFill>
                  <a:srgbClr val="F0B04A"/>
                </a:solidFill>
              </a:rPr>
              <a:t>From the worksheet — "Patterns from SKILL.md" row</a:t>
            </a:r>
          </a:p>
        </p:txBody>
      </p:sp>
      <p:sp>
        <p:nvSpPr>
          <p:cNvPr id="3" name="Rounded Rectangle 2"/>
          <p:cNvSpPr/>
          <p:nvPr/>
        </p:nvSpPr>
        <p:spPr>
          <a:xfrm>
            <a:off x="457200" y="1280160"/>
            <a:ext cx="5486400" cy="2286000"/>
          </a:xfrm>
          <a:prstGeom prst="roundRect">
            <a:avLst/>
          </a:prstGeom>
          <a:solidFill>
            <a:srgbClr val="FAFAF6"/>
          </a:solidFill>
          <a:ln w="31750">
            <a:solidFill>
              <a:srgbClr val="08434A"/>
            </a:solidFill>
          </a:ln>
          <a:effectLst/>
        </p:spPr>
        <p:style>
          <a:lnRef idx="1">
            <a:schemeClr val="accent1"/>
          </a:lnRef>
          <a:fillRef idx="3">
            <a:schemeClr val="accent1"/>
          </a:fillRef>
          <a:effectRef idx="2">
            <a:schemeClr val="accent1"/>
          </a:effectRef>
          <a:fontRef idx="minor">
            <a:schemeClr val="lt1"/>
          </a:fontRef>
        </p:style>
        <p:txBody>
          <a:bodyPr rtlCol="0" anchor="ctr" lIns="228600" rIns="228600" tIns="182880" wrap="square"/>
          <a:lstStyle/>
          <a:p>
            <a:pPr algn="ctr"/>
            <a:r>
              <a:rPr sz="2000" b="1">
                <a:solidFill>
                  <a:srgbClr val="08434A"/>
                </a:solidFill>
              </a:rPr>
              <a:t>1. Hybrid search + cross-encoder rerank</a:t>
            </a:r>
          </a:p>
          <a:p>
            <a:pPr>
              <a:spcBef>
                <a:spcPts val="800"/>
              </a:spcBef>
            </a:pPr>
            <a:r>
              <a:rPr sz="1400">
                <a:solidFill>
                  <a:srgbClr val="1F2530"/>
                </a:solidFill>
              </a:rPr>
              <a:t>BM25 + dense, fused with RRF, reranked. Tackles the 'recall good, precision bad' failure mode.</a:t>
            </a:r>
          </a:p>
        </p:txBody>
      </p:sp>
      <p:sp>
        <p:nvSpPr>
          <p:cNvPr id="4" name="Rounded Rectangle 3"/>
          <p:cNvSpPr/>
          <p:nvPr/>
        </p:nvSpPr>
        <p:spPr>
          <a:xfrm>
            <a:off x="6217920" y="1280160"/>
            <a:ext cx="5486400" cy="2286000"/>
          </a:xfrm>
          <a:prstGeom prst="roundRect">
            <a:avLst/>
          </a:prstGeom>
          <a:solidFill>
            <a:srgbClr val="FAFAF6"/>
          </a:solidFill>
          <a:ln w="31750">
            <a:solidFill>
              <a:srgbClr val="0089A7"/>
            </a:solidFill>
          </a:ln>
          <a:effectLst/>
        </p:spPr>
        <p:style>
          <a:lnRef idx="1">
            <a:schemeClr val="accent1"/>
          </a:lnRef>
          <a:fillRef idx="3">
            <a:schemeClr val="accent1"/>
          </a:fillRef>
          <a:effectRef idx="2">
            <a:schemeClr val="accent1"/>
          </a:effectRef>
          <a:fontRef idx="minor">
            <a:schemeClr val="lt1"/>
          </a:fontRef>
        </p:style>
        <p:txBody>
          <a:bodyPr rtlCol="0" anchor="ctr" lIns="228600" rIns="228600" tIns="182880" wrap="square"/>
          <a:lstStyle/>
          <a:p>
            <a:pPr algn="ctr"/>
            <a:r>
              <a:rPr sz="2000" b="1">
                <a:solidFill>
                  <a:srgbClr val="0089A7"/>
                </a:solidFill>
              </a:rPr>
              <a:t>2. Parent-child chunking</a:t>
            </a:r>
          </a:p>
          <a:p>
            <a:pPr>
              <a:spcBef>
                <a:spcPts val="800"/>
              </a:spcBef>
            </a:pPr>
            <a:r>
              <a:rPr sz="1400">
                <a:solidFill>
                  <a:srgbClr val="1F2530"/>
                </a:solidFill>
              </a:rPr>
              <a:t>Children for retrieval recall; parents for drafter context. Markdown-aware → section anchors.</a:t>
            </a:r>
          </a:p>
        </p:txBody>
      </p:sp>
      <p:sp>
        <p:nvSpPr>
          <p:cNvPr id="5" name="Rounded Rectangle 4"/>
          <p:cNvSpPr/>
          <p:nvPr/>
        </p:nvSpPr>
        <p:spPr>
          <a:xfrm>
            <a:off x="457200" y="3840480"/>
            <a:ext cx="5486400" cy="2286000"/>
          </a:xfrm>
          <a:prstGeom prst="roundRect">
            <a:avLst/>
          </a:prstGeom>
          <a:solidFill>
            <a:srgbClr val="FAFAF6"/>
          </a:solidFill>
          <a:ln w="31750">
            <a:solidFill>
              <a:srgbClr val="F0B04A"/>
            </a:solidFill>
          </a:ln>
          <a:effectLst/>
        </p:spPr>
        <p:style>
          <a:lnRef idx="1">
            <a:schemeClr val="accent1"/>
          </a:lnRef>
          <a:fillRef idx="3">
            <a:schemeClr val="accent1"/>
          </a:fillRef>
          <a:effectRef idx="2">
            <a:schemeClr val="accent1"/>
          </a:effectRef>
          <a:fontRef idx="minor">
            <a:schemeClr val="lt1"/>
          </a:fontRef>
        </p:style>
        <p:txBody>
          <a:bodyPr rtlCol="0" anchor="ctr" lIns="228600" rIns="228600" tIns="182880" wrap="square"/>
          <a:lstStyle/>
          <a:p>
            <a:pPr algn="ctr"/>
            <a:r>
              <a:rPr sz="2000" b="1">
                <a:solidFill>
                  <a:srgbClr val="F0B04A"/>
                </a:solidFill>
              </a:rPr>
              <a:t>3. Self-RAG faithfulness loop</a:t>
            </a:r>
          </a:p>
          <a:p>
            <a:pPr>
              <a:spcBef>
                <a:spcPts val="800"/>
              </a:spcBef>
            </a:pPr>
            <a:r>
              <a:rPr sz="1400">
                <a:solidFill>
                  <a:srgbClr val="1F2530"/>
                </a:solidFill>
              </a:rPr>
              <a:t>Score every sentence vs. retrieved citations. Below threshold → regenerate with a hint.</a:t>
            </a:r>
          </a:p>
        </p:txBody>
      </p:sp>
      <p:sp>
        <p:nvSpPr>
          <p:cNvPr id="6" name="Rounded Rectangle 5"/>
          <p:cNvSpPr/>
          <p:nvPr/>
        </p:nvSpPr>
        <p:spPr>
          <a:xfrm>
            <a:off x="6217920" y="3840480"/>
            <a:ext cx="5486400" cy="2286000"/>
          </a:xfrm>
          <a:prstGeom prst="roundRect">
            <a:avLst/>
          </a:prstGeom>
          <a:solidFill>
            <a:srgbClr val="FAFAF6"/>
          </a:solidFill>
          <a:ln w="31750">
            <a:solidFill>
              <a:srgbClr val="9F1239"/>
            </a:solidFill>
          </a:ln>
          <a:effectLst/>
        </p:spPr>
        <p:style>
          <a:lnRef idx="1">
            <a:schemeClr val="accent1"/>
          </a:lnRef>
          <a:fillRef idx="3">
            <a:schemeClr val="accent1"/>
          </a:fillRef>
          <a:effectRef idx="2">
            <a:schemeClr val="accent1"/>
          </a:effectRef>
          <a:fontRef idx="minor">
            <a:schemeClr val="lt1"/>
          </a:fontRef>
        </p:style>
        <p:txBody>
          <a:bodyPr rtlCol="0" anchor="ctr" lIns="228600" rIns="228600" tIns="182880" wrap="square"/>
          <a:lstStyle/>
          <a:p>
            <a:pPr algn="ctr"/>
            <a:r>
              <a:rPr sz="2000" b="1">
                <a:solidFill>
                  <a:srgbClr val="9F1239"/>
                </a:solidFill>
              </a:rPr>
              <a:t>4. Output guardrails</a:t>
            </a:r>
          </a:p>
          <a:p>
            <a:pPr>
              <a:spcBef>
                <a:spcPts val="800"/>
              </a:spcBef>
            </a:pPr>
            <a:r>
              <a:rPr sz="1400">
                <a:solidFill>
                  <a:srgbClr val="1F2530"/>
                </a:solidFill>
              </a:rPr>
              <a:t>Banned-phrase / forbidden-claim regex on the final output. AHPRA-aligned, layered with Bedrock in prod.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8434A"/>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r>
              <a:rPr sz="2800" b="1">
                <a:solidFill>
                  <a:srgbClr val="FFFFFF"/>
                </a:solidFill>
              </a:rPr>
              <a:t>AWS architecture</a:t>
            </a:r>
          </a:p>
          <a:p>
            <a:r>
              <a:rPr sz="1400">
                <a:solidFill>
                  <a:srgbClr val="F0B04A"/>
                </a:solidFill>
              </a:rPr>
              <a:t>From the worksheet — "AWS architecture" section</a:t>
            </a:r>
          </a:p>
        </p:txBody>
      </p:sp>
      <p:graphicFrame>
        <p:nvGraphicFramePr>
          <p:cNvPr id="3" name="Table 2"/>
          <p:cNvGraphicFramePr>
            <a:graphicFrameLocks noGrp="1"/>
          </p:cNvGraphicFramePr>
          <p:nvPr/>
        </p:nvGraphicFramePr>
        <p:xfrm>
          <a:off x="457200" y="1280160"/>
          <a:ext cx="11247120" cy="4937760"/>
        </p:xfrm>
        <a:graphic>
          <a:graphicData uri="http://schemas.openxmlformats.org/drawingml/2006/table">
            <a:tbl>
              <a:tblPr firstRow="1" bandRow="1">
                <a:tableStyleId>{5C22544A-7EE6-4342-B048-85BDC9FD1C3A}</a:tableStyleId>
              </a:tblPr>
              <a:tblGrid>
                <a:gridCol w="5623560"/>
                <a:gridCol w="5623560"/>
              </a:tblGrid>
              <a:tr h="548640">
                <a:tc>
                  <a:txBody>
                    <a:bodyPr wrap="square"/>
                    <a:lstStyle/>
                    <a:p>
                      <a:r>
                        <a:rPr sz="1400" b="1">
                          <a:solidFill>
                            <a:srgbClr val="FFFFFF"/>
                          </a:solidFill>
                        </a:rPr>
                        <a:t>Layer</a:t>
                      </a:r>
                    </a:p>
                  </a:txBody>
                  <a:tcPr>
                    <a:solidFill>
                      <a:srgbClr val="08434A"/>
                    </a:solidFill>
                  </a:tcPr>
                </a:tc>
                <a:tc>
                  <a:txBody>
                    <a:bodyPr wrap="square"/>
                    <a:lstStyle/>
                    <a:p>
                      <a:r>
                        <a:rPr sz="1400" b="1">
                          <a:solidFill>
                            <a:srgbClr val="FFFFFF"/>
                          </a:solidFill>
                        </a:rPr>
                        <a:t>AWS service named in the worksheet</a:t>
                      </a:r>
                    </a:p>
                  </a:txBody>
                  <a:tcPr>
                    <a:solidFill>
                      <a:srgbClr val="08434A"/>
                    </a:solidFill>
                  </a:tcPr>
                </a:tc>
              </a:tr>
              <a:tr h="548640">
                <a:tc>
                  <a:txBody>
                    <a:bodyPr wrap="square"/>
                    <a:lstStyle/>
                    <a:p>
                      <a:r>
                        <a:rPr sz="1300" b="0">
                          <a:solidFill>
                            <a:srgbClr val="1F2530"/>
                          </a:solidFill>
                        </a:rPr>
                        <a:t>Ingestion</a:t>
                      </a:r>
                    </a:p>
                  </a:txBody>
                  <a:tcPr/>
                </a:tc>
                <a:tc>
                  <a:txBody>
                    <a:bodyPr wrap="square"/>
                    <a:lstStyle/>
                    <a:p>
                      <a:r>
                        <a:rPr sz="1300" b="0">
                          <a:solidFill>
                            <a:srgbClr val="1F2530"/>
                          </a:solidFill>
                        </a:rPr>
                        <a:t>S3 → AWS Glue → Amazon Textract → Comprehend Medical → Lambda</a:t>
                      </a:r>
                    </a:p>
                  </a:txBody>
                  <a:tcPr/>
                </a:tc>
              </a:tr>
              <a:tr h="548640">
                <a:tc>
                  <a:txBody>
                    <a:bodyPr wrap="square"/>
                    <a:lstStyle/>
                    <a:p>
                      <a:r>
                        <a:rPr sz="1300" b="0">
                          <a:solidFill>
                            <a:srgbClr val="1F2530"/>
                          </a:solidFill>
                        </a:rPr>
                        <a:t>Embedding</a:t>
                      </a:r>
                    </a:p>
                  </a:txBody>
                  <a:tcPr/>
                </a:tc>
                <a:tc>
                  <a:txBody>
                    <a:bodyPr wrap="square"/>
                    <a:lstStyle/>
                    <a:p>
                      <a:r>
                        <a:rPr sz="1300" b="0">
                          <a:solidFill>
                            <a:srgbClr val="1F2530"/>
                          </a:solidFill>
                        </a:rPr>
                        <a:t>Amazon Bedrock — Titan Embeddings v2 OR Cohere Embed v4</a:t>
                      </a:r>
                    </a:p>
                  </a:txBody>
                  <a:tcPr/>
                </a:tc>
              </a:tr>
              <a:tr h="548640">
                <a:tc>
                  <a:txBody>
                    <a:bodyPr wrap="square"/>
                    <a:lstStyle/>
                    <a:p>
                      <a:r>
                        <a:rPr sz="1300" b="0">
                          <a:solidFill>
                            <a:srgbClr val="1F2530"/>
                          </a:solidFill>
                        </a:rPr>
                        <a:t>Vector store</a:t>
                      </a:r>
                    </a:p>
                  </a:txBody>
                  <a:tcPr/>
                </a:tc>
                <a:tc>
                  <a:txBody>
                    <a:bodyPr wrap="square"/>
                    <a:lstStyle/>
                    <a:p>
                      <a:r>
                        <a:rPr sz="1300" b="0">
                          <a:solidFill>
                            <a:srgbClr val="1F2530"/>
                          </a:solidFill>
                        </a:rPr>
                        <a:t>Amazon OpenSearch Serverless (hybrid k-NN + BM25)</a:t>
                      </a:r>
                    </a:p>
                  </a:txBody>
                  <a:tcPr/>
                </a:tc>
              </a:tr>
              <a:tr h="548640">
                <a:tc>
                  <a:txBody>
                    <a:bodyPr wrap="square"/>
                    <a:lstStyle/>
                    <a:p>
                      <a:r>
                        <a:rPr sz="1300" b="0">
                          <a:solidFill>
                            <a:srgbClr val="1F2530"/>
                          </a:solidFill>
                        </a:rPr>
                        <a:t>Retrieval</a:t>
                      </a:r>
                    </a:p>
                  </a:txBody>
                  <a:tcPr/>
                </a:tc>
                <a:tc>
                  <a:txBody>
                    <a:bodyPr wrap="square"/>
                    <a:lstStyle/>
                    <a:p>
                      <a:r>
                        <a:rPr sz="1300" b="0">
                          <a:solidFill>
                            <a:srgbClr val="1F2530"/>
                          </a:solidFill>
                        </a:rPr>
                        <a:t>Bedrock Knowledge Bases + Bedrock Rerank</a:t>
                      </a:r>
                    </a:p>
                  </a:txBody>
                  <a:tcPr/>
                </a:tc>
              </a:tr>
              <a:tr h="548640">
                <a:tc>
                  <a:txBody>
                    <a:bodyPr wrap="square"/>
                    <a:lstStyle/>
                    <a:p>
                      <a:r>
                        <a:rPr sz="1300" b="0">
                          <a:solidFill>
                            <a:srgbClr val="1F2530"/>
                          </a:solidFill>
                        </a:rPr>
                        <a:t>Generation</a:t>
                      </a:r>
                    </a:p>
                  </a:txBody>
                  <a:tcPr/>
                </a:tc>
                <a:tc>
                  <a:txBody>
                    <a:bodyPr wrap="square"/>
                    <a:lstStyle/>
                    <a:p>
                      <a:r>
                        <a:rPr sz="1300" b="0">
                          <a:solidFill>
                            <a:srgbClr val="1F2530"/>
                          </a:solidFill>
                        </a:rPr>
                        <a:t>Bedrock Claude Opus 4.7 (drafting) + Claude Haiku 4.5 (compliance)</a:t>
                      </a:r>
                    </a:p>
                  </a:txBody>
                  <a:tcPr/>
                </a:tc>
              </a:tr>
              <a:tr h="548640">
                <a:tc>
                  <a:txBody>
                    <a:bodyPr wrap="square"/>
                    <a:lstStyle/>
                    <a:p>
                      <a:r>
                        <a:rPr sz="1300" b="0">
                          <a:solidFill>
                            <a:srgbClr val="1F2530"/>
                          </a:solidFill>
                        </a:rPr>
                        <a:t>Guardrails</a:t>
                      </a:r>
                    </a:p>
                  </a:txBody>
                  <a:tcPr/>
                </a:tc>
                <a:tc>
                  <a:txBody>
                    <a:bodyPr wrap="square"/>
                    <a:lstStyle/>
                    <a:p>
                      <a:r>
                        <a:rPr sz="1300" b="0">
                          <a:solidFill>
                            <a:srgbClr val="1F2530"/>
                          </a:solidFill>
                        </a:rPr>
                        <a:t>Amazon Bedrock Guardrails — denied topics + PII filter</a:t>
                      </a:r>
                    </a:p>
                  </a:txBody>
                  <a:tcPr/>
                </a:tc>
              </a:tr>
              <a:tr h="548640">
                <a:tc>
                  <a:txBody>
                    <a:bodyPr wrap="square"/>
                    <a:lstStyle/>
                    <a:p>
                      <a:r>
                        <a:rPr sz="1300" b="0">
                          <a:solidFill>
                            <a:srgbClr val="1F2530"/>
                          </a:solidFill>
                        </a:rPr>
                        <a:t>Orchestration</a:t>
                      </a:r>
                    </a:p>
                  </a:txBody>
                  <a:tcPr/>
                </a:tc>
                <a:tc>
                  <a:txBody>
                    <a:bodyPr wrap="square"/>
                    <a:lstStyle/>
                    <a:p>
                      <a:r>
                        <a:rPr sz="1300" b="0">
                          <a:solidFill>
                            <a:srgbClr val="1F2530"/>
                          </a:solidFill>
                        </a:rPr>
                        <a:t>Step Functions + Lambda; or Bedrock Agents</a:t>
                      </a:r>
                    </a:p>
                  </a:txBody>
                  <a:tcPr/>
                </a:tc>
              </a:tr>
              <a:tr h="548640">
                <a:tc>
                  <a:txBody>
                    <a:bodyPr wrap="square"/>
                    <a:lstStyle/>
                    <a:p>
                      <a:r>
                        <a:rPr sz="1300" b="0">
                          <a:solidFill>
                            <a:srgbClr val="1F2530"/>
                          </a:solidFill>
                        </a:rPr>
                        <a:t>Observability</a:t>
                      </a:r>
                    </a:p>
                  </a:txBody>
                  <a:tcPr/>
                </a:tc>
                <a:tc>
                  <a:txBody>
                    <a:bodyPr wrap="square"/>
                    <a:lstStyle/>
                    <a:p>
                      <a:r>
                        <a:rPr sz="1300" b="0">
                          <a:solidFill>
                            <a:srgbClr val="1F2530"/>
                          </a:solidFill>
                        </a:rPr>
                        <a:t>OTel ADOT → Langfuse on ECS Fargate; CloudWatch for infra</a:t>
                      </a:r>
                    </a:p>
                  </a:txBody>
                  <a:tcPr/>
                </a:tc>
              </a:tr>
            </a:tbl>
          </a:graphicData>
        </a:graphic>
      </p:graphicFrame>
      <p:sp>
        <p:nvSpPr>
          <p:cNvPr id="4" name="TextBox 3"/>
          <p:cNvSpPr txBox="1"/>
          <p:nvPr/>
        </p:nvSpPr>
        <p:spPr>
          <a:xfrm>
            <a:off x="457200" y="6263640"/>
            <a:ext cx="11247120" cy="457200"/>
          </a:xfrm>
          <a:prstGeom prst="rect">
            <a:avLst/>
          </a:prstGeom>
          <a:noFill/>
        </p:spPr>
        <p:txBody>
          <a:bodyPr wrap="square">
            <a:spAutoFit/>
          </a:bodyPr>
          <a:lstStyle/>
          <a:p>
            <a:r>
              <a:rPr sz="1100" i="1">
                <a:solidFill>
                  <a:srgbClr val="888888"/>
                </a:solidFill>
              </a:rPr>
              <a:t>🖼  Visual: Excel screenshot of the AWS architecture table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8434A"/>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r>
              <a:rPr sz="2800" b="1">
                <a:solidFill>
                  <a:srgbClr val="FFFFFF"/>
                </a:solidFill>
              </a:rPr>
              <a:t>How the project actually runs</a:t>
            </a:r>
          </a:p>
          <a:p>
            <a:r>
              <a:rPr sz="1400">
                <a:solidFill>
                  <a:srgbClr val="F0B04A"/>
                </a:solidFill>
              </a:rPr>
              <a:t>One architecture slide — full diagram in docs/Design/</a:t>
            </a:r>
          </a:p>
        </p:txBody>
      </p:sp>
      <p:sp>
        <p:nvSpPr>
          <p:cNvPr id="3" name="TextBox 2"/>
          <p:cNvSpPr txBox="1"/>
          <p:nvPr/>
        </p:nvSpPr>
        <p:spPr>
          <a:xfrm>
            <a:off x="548640" y="1280160"/>
            <a:ext cx="11064240" cy="4846320"/>
          </a:xfrm>
          <a:prstGeom prst="rect">
            <a:avLst/>
          </a:prstGeom>
          <a:noFill/>
        </p:spPr>
        <p:txBody>
          <a:bodyPr wrap="square">
            <a:spAutoFit/>
          </a:bodyPr>
          <a:lstStyle/>
          <a:p>
            <a:r>
              <a:rPr sz="1800" b="0">
                <a:solidFill>
                  <a:srgbClr val="1F2530"/>
                </a:solidFill>
              </a:rPr>
              <a:t>• Two FastAPI services: DataMgmt (catalog, ingest) + RAGMgmt (chunk, retrieve, generate)</a:t>
            </a:r>
          </a:p>
          <a:p>
            <a:r>
              <a:rPr sz="1800" b="0">
                <a:solidFill>
                  <a:srgbClr val="1F2530"/>
                </a:solidFill>
              </a:rPr>
              <a:t>• Postgres + pgvector locally → flips to OpenSearch Serverless in AWS via one env var</a:t>
            </a:r>
          </a:p>
          <a:p>
            <a:r>
              <a:rPr sz="1800" b="0">
                <a:solidFill>
                  <a:srgbClr val="1F2530"/>
                </a:solidFill>
              </a:rPr>
              <a:t>• Airflow DAG for fetch → chunk → embed (markdown-aware, attaches section anchors)</a:t>
            </a:r>
          </a:p>
          <a:p>
            <a:r>
              <a:rPr sz="1800" b="0">
                <a:solidFill>
                  <a:srgbClr val="1F2530"/>
                </a:solidFill>
              </a:rPr>
              <a:t>• Two Angular portals: admin (curators) + customer (content authors), both path-routed /api/*</a:t>
            </a:r>
          </a:p>
          <a:p>
            <a:r>
              <a:rPr sz="1800" b="0">
                <a:solidFill>
                  <a:srgbClr val="1F2530"/>
                </a:solidFill>
              </a:rPr>
              <a:t>• Every load-bearing component is a factory — local-dev defaults, production deps as opt-in extras</a:t>
            </a:r>
          </a:p>
          <a:p>
            <a:r>
              <a:rPr sz="1800" b="0">
                <a:solidFill>
                  <a:srgbClr val="1F2530"/>
                </a:solidFill>
              </a:rPr>
              <a:t>• Same code path runs unchanged on AWS EKS, Azure AKS, GCP GKE, or any container target</a:t>
            </a:r>
          </a:p>
        </p:txBody>
      </p:sp>
      <p:sp>
        <p:nvSpPr>
          <p:cNvPr id="4" name="TextBox 3"/>
          <p:cNvSpPr txBox="1"/>
          <p:nvPr/>
        </p:nvSpPr>
        <p:spPr>
          <a:xfrm>
            <a:off x="457200" y="6263640"/>
            <a:ext cx="11247120" cy="457200"/>
          </a:xfrm>
          <a:prstGeom prst="rect">
            <a:avLst/>
          </a:prstGeom>
          <a:noFill/>
        </p:spPr>
        <p:txBody>
          <a:bodyPr wrap="square">
            <a:spAutoFit/>
          </a:bodyPr>
          <a:lstStyle/>
          <a:p>
            <a:r>
              <a:rPr sz="1100" i="1">
                <a:solidFill>
                  <a:srgbClr val="888888"/>
                </a:solidFill>
              </a:rPr>
              <a:t>🖼  Visual: docs/Design/architecture-diagrams.drawio — Tab 1 (System Local Dev). Don't dwell.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8434A"/>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r>
              <a:rPr sz="2800" b="1">
                <a:solidFill>
                  <a:srgbClr val="FFFFFF"/>
                </a:solidFill>
              </a:rPr>
              <a:t>The four patterns in action</a:t>
            </a:r>
          </a:p>
          <a:p>
            <a:r>
              <a:rPr sz="1400">
                <a:solidFill>
                  <a:srgbClr val="F0B04A"/>
                </a:solidFill>
              </a:rPr>
              <a:t>How each Excel-named pattern is implemented in this project</a:t>
            </a:r>
          </a:p>
        </p:txBody>
      </p:sp>
      <p:graphicFrame>
        <p:nvGraphicFramePr>
          <p:cNvPr id="3" name="Table 2"/>
          <p:cNvGraphicFramePr>
            <a:graphicFrameLocks noGrp="1"/>
          </p:cNvGraphicFramePr>
          <p:nvPr/>
        </p:nvGraphicFramePr>
        <p:xfrm>
          <a:off x="457200" y="1280160"/>
          <a:ext cx="11247120" cy="4572000"/>
        </p:xfrm>
        <a:graphic>
          <a:graphicData uri="http://schemas.openxmlformats.org/drawingml/2006/table">
            <a:tbl>
              <a:tblPr firstRow="1" bandRow="1">
                <a:tableStyleId>{5C22544A-7EE6-4342-B048-85BDC9FD1C3A}</a:tableStyleId>
              </a:tblPr>
              <a:tblGrid>
                <a:gridCol w="5623560"/>
                <a:gridCol w="5623560"/>
              </a:tblGrid>
              <a:tr h="914400">
                <a:tc>
                  <a:txBody>
                    <a:bodyPr wrap="square"/>
                    <a:lstStyle/>
                    <a:p>
                      <a:r>
                        <a:rPr sz="1400" b="1">
                          <a:solidFill>
                            <a:srgbClr val="FFFFFF"/>
                          </a:solidFill>
                        </a:rPr>
                        <a:t>Pattern</a:t>
                      </a:r>
                    </a:p>
                  </a:txBody>
                  <a:tcPr>
                    <a:solidFill>
                      <a:srgbClr val="08434A"/>
                    </a:solidFill>
                  </a:tcPr>
                </a:tc>
                <a:tc>
                  <a:txBody>
                    <a:bodyPr wrap="square"/>
                    <a:lstStyle/>
                    <a:p>
                      <a:r>
                        <a:rPr sz="1400" b="1">
                          <a:solidFill>
                            <a:srgbClr val="FFFFFF"/>
                          </a:solidFill>
                        </a:rPr>
                        <a:t>Implementation in this project</a:t>
                      </a:r>
                    </a:p>
                  </a:txBody>
                  <a:tcPr>
                    <a:solidFill>
                      <a:srgbClr val="08434A"/>
                    </a:solidFill>
                  </a:tcPr>
                </a:tc>
              </a:tr>
              <a:tr h="914400">
                <a:tc>
                  <a:txBody>
                    <a:bodyPr wrap="square"/>
                    <a:lstStyle/>
                    <a:p>
                      <a:r>
                        <a:rPr sz="1300" b="0">
                          <a:solidFill>
                            <a:srgbClr val="1F2530"/>
                          </a:solidFill>
                        </a:rPr>
                        <a:t>Hybrid + Rerank</a:t>
                      </a:r>
                    </a:p>
                  </a:txBody>
                  <a:tcPr/>
                </a:tc>
                <a:tc>
                  <a:txBody>
                    <a:bodyPr wrap="square"/>
                    <a:lstStyle/>
                    <a:p>
                      <a:r>
                        <a:rPr sz="1300" b="0">
                          <a:solidFill>
                            <a:srgbClr val="1F2530"/>
                          </a:solidFill>
                        </a:rPr>
                        <a:t>RRF fuses BM25 (Postgres tsvector) + dense (pgvector cosine). TokenOverlap default; CrossEncoder via [cross-encoder-rerank] extra. Three-corpora variant runs the pipeline once per corpus → guaranteed mix.</a:t>
                      </a:r>
                    </a:p>
                  </a:txBody>
                  <a:tcPr/>
                </a:tc>
              </a:tr>
              <a:tr h="914400">
                <a:tc>
                  <a:txBody>
                    <a:bodyPr wrap="square"/>
                    <a:lstStyle/>
                    <a:p>
                      <a:r>
                        <a:rPr sz="1300" b="0">
                          <a:solidFill>
                            <a:srgbClr val="1F2530"/>
                          </a:solidFill>
                        </a:rPr>
                        <a:t>Parent-child chunking</a:t>
                      </a:r>
                    </a:p>
                  </a:txBody>
                  <a:tcPr/>
                </a:tc>
                <a:tc>
                  <a:txBody>
                    <a:bodyPr wrap="square"/>
                    <a:lstStyle/>
                    <a:p>
                      <a:r>
                        <a:rPr sz="1300" b="0">
                          <a:solidFill>
                            <a:srgbClr val="1F2530"/>
                          </a:solidFill>
                        </a:rPr>
                        <a:t>Children ~256 chars, parents ~1500 chars. Markdown-aware: '## Heading' lines tag every parent with parent_heading + section_id. Citations cite by [Public_Regulator_Guidelines#Testimonials], not opaque [1].</a:t>
                      </a:r>
                    </a:p>
                  </a:txBody>
                  <a:tcPr/>
                </a:tc>
              </a:tr>
              <a:tr h="914400">
                <a:tc>
                  <a:txBody>
                    <a:bodyPr wrap="square"/>
                    <a:lstStyle/>
                    <a:p>
                      <a:r>
                        <a:rPr sz="1300" b="0">
                          <a:solidFill>
                            <a:srgbClr val="1F2530"/>
                          </a:solidFill>
                        </a:rPr>
                        <a:t>Self-RAG loop</a:t>
                      </a:r>
                    </a:p>
                  </a:txBody>
                  <a:tcPr/>
                </a:tc>
                <a:tc>
                  <a:txBody>
                    <a:bodyPr wrap="square"/>
                    <a:lstStyle/>
                    <a:p>
                      <a:r>
                        <a:rPr sz="1300" b="0">
                          <a:solidFill>
                            <a:srgbClr val="1F2530"/>
                          </a:solidFill>
                        </a:rPr>
                        <a:t>Token-overlap scorer per sentence vs. retrieved citations. Below threshold → drafter receives a hint listing unsupported sentences and rewrites. Capped retries; deterministic stub drafter short-circuits the loop.</a:t>
                      </a:r>
                    </a:p>
                  </a:txBody>
                  <a:tcPr/>
                </a:tc>
              </a:tr>
              <a:tr h="914400">
                <a:tc>
                  <a:txBody>
                    <a:bodyPr wrap="square"/>
                    <a:lstStyle/>
                    <a:p>
                      <a:r>
                        <a:rPr sz="1300" b="0">
                          <a:solidFill>
                            <a:srgbClr val="1F2530"/>
                          </a:solidFill>
                        </a:rPr>
                        <a:t>Output guardrails</a:t>
                      </a:r>
                    </a:p>
                  </a:txBody>
                  <a:tcPr/>
                </a:tc>
                <a:tc>
                  <a:txBody>
                    <a:bodyPr wrap="square"/>
                    <a:lstStyle/>
                    <a:p>
                      <a:r>
                        <a:rPr sz="1300" b="0">
                          <a:solidFill>
                            <a:srgbClr val="1F2530"/>
                          </a:solidFill>
                        </a:rPr>
                        <a:t>30-rule AHPRA YAML policy with rule_id + severity + char offsets. Layered mode (regex first → Bedrock Guardrails) is the recommended production posture; Bedrock catches paraphrased violations the regex misses.</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8434A"/>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r>
              <a:rPr sz="2800" b="1">
                <a:solidFill>
                  <a:srgbClr val="FFFFFF"/>
                </a:solidFill>
              </a:rPr>
              <a:t>Demo: full pipeline in 90 seconds</a:t>
            </a:r>
          </a:p>
          <a:p>
            <a:r>
              <a:rPr sz="1400">
                <a:solidFill>
                  <a:srgbClr val="F0B04A"/>
                </a:solidFill>
              </a:rPr>
              <a:t>Topic → three corpora → cited draft → faithfulness + guardrails verdicts</a:t>
            </a:r>
          </a:p>
        </p:txBody>
      </p:sp>
      <p:sp>
        <p:nvSpPr>
          <p:cNvPr id="3" name="TextBox 2"/>
          <p:cNvSpPr txBox="1"/>
          <p:nvPr/>
        </p:nvSpPr>
        <p:spPr>
          <a:xfrm>
            <a:off x="548640" y="1280160"/>
            <a:ext cx="11064240" cy="4846320"/>
          </a:xfrm>
          <a:prstGeom prst="rect">
            <a:avLst/>
          </a:prstGeom>
          <a:noFill/>
        </p:spPr>
        <p:txBody>
          <a:bodyPr wrap="square">
            <a:spAutoFit/>
          </a:bodyPr>
          <a:lstStyle/>
          <a:p>
            <a:r>
              <a:rPr sz="1800" b="0">
                <a:solidFill>
                  <a:srgbClr val="1F2530"/>
                </a:solidFill>
              </a:rPr>
              <a:t>• Topic: "What does AHPRA say about testimonials in advertising?"</a:t>
            </a:r>
          </a:p>
          <a:p>
            <a:r>
              <a:rPr sz="1800" b="0">
                <a:solidFill>
                  <a:srgbClr val="1F2530"/>
                </a:solidFill>
              </a:rPr>
              <a:t>• Three-corpora coverage panel: regulator + voice present, evidence missing for this regulatory question</a:t>
            </a:r>
          </a:p>
          <a:p>
            <a:r>
              <a:rPr sz="1800" b="0">
                <a:solidFill>
                  <a:srgbClr val="1F2530"/>
                </a:solidFill>
              </a:rPr>
              <a:t>• Per-citation chips colored by corpus type — deep teal regulator, amber voice</a:t>
            </a:r>
          </a:p>
          <a:p>
            <a:r>
              <a:rPr sz="1800" b="0">
                <a:solidFill>
                  <a:srgbClr val="1F2530"/>
                </a:solidFill>
              </a:rPr>
              <a:t>• Faithfulness pill: "score 92% · passed" + Guardrails pill: "0 violations · passed"</a:t>
            </a:r>
          </a:p>
          <a:p>
            <a:r>
              <a:rPr sz="1800" b="0">
                <a:solidFill>
                  <a:srgbClr val="1F2530"/>
                </a:solidFill>
              </a:rPr>
              <a:t>• Switch drafter → faithfulness drops below threshold → regenerate loop kicks in visibly</a:t>
            </a:r>
          </a:p>
        </p:txBody>
      </p:sp>
      <p:sp>
        <p:nvSpPr>
          <p:cNvPr id="4" name="TextBox 3"/>
          <p:cNvSpPr txBox="1"/>
          <p:nvPr/>
        </p:nvSpPr>
        <p:spPr>
          <a:xfrm>
            <a:off x="457200" y="6263640"/>
            <a:ext cx="11247120" cy="457200"/>
          </a:xfrm>
          <a:prstGeom prst="rect">
            <a:avLst/>
          </a:prstGeom>
          <a:noFill/>
        </p:spPr>
        <p:txBody>
          <a:bodyPr wrap="square">
            <a:spAutoFit/>
          </a:bodyPr>
          <a:lstStyle/>
          <a:p>
            <a:r>
              <a:rPr sz="1100" i="1">
                <a:solidFill>
                  <a:srgbClr val="888888"/>
                </a:solidFill>
              </a:rPr>
              <a:t>🖼  Visual: Pre-recorded MP4 (~75 s) of the customer portal Generate flow. Cut tight, no narration over the recording — your live voice carries.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8434A"/>
          </a:solidFill>
          <a:ln>
            <a:noFill/>
          </a:ln>
        </p:spPr>
        <p:style>
          <a:lnRef idx="1">
            <a:schemeClr val="accent1"/>
          </a:lnRef>
          <a:fillRef idx="3">
            <a:schemeClr val="accent1"/>
          </a:fillRef>
          <a:effectRef idx="2">
            <a:schemeClr val="accent1"/>
          </a:effectRef>
          <a:fontRef idx="minor">
            <a:schemeClr val="lt1"/>
          </a:fontRef>
        </p:style>
        <p:txBody>
          <a:bodyPr rtlCol="0" anchor="ctr" lIns="457200" tIns="137160"/>
          <a:lstStyle/>
          <a:p>
            <a:pPr algn="ctr"/>
            <a:r>
              <a:rPr sz="2800" b="1">
                <a:solidFill>
                  <a:srgbClr val="FFFFFF"/>
                </a:solidFill>
              </a:rPr>
              <a:t>What's done — and where the repo lives</a:t>
            </a:r>
          </a:p>
          <a:p>
            <a:r>
              <a:rPr sz="1400">
                <a:solidFill>
                  <a:srgbClr val="F0B04A"/>
                </a:solidFill>
              </a:rPr>
              <a:t>Worksheet "Hands-on tasks" scorecard</a:t>
            </a:r>
          </a:p>
        </p:txBody>
      </p:sp>
      <p:sp>
        <p:nvSpPr>
          <p:cNvPr id="3" name="TextBox 2"/>
          <p:cNvSpPr txBox="1"/>
          <p:nvPr/>
        </p:nvSpPr>
        <p:spPr>
          <a:xfrm>
            <a:off x="548640" y="1280160"/>
            <a:ext cx="11064240" cy="3657600"/>
          </a:xfrm>
          <a:prstGeom prst="rect">
            <a:avLst/>
          </a:prstGeom>
          <a:noFill/>
        </p:spPr>
        <p:txBody>
          <a:bodyPr wrap="square">
            <a:spAutoFit/>
          </a:bodyPr>
          <a:lstStyle/>
          <a:p>
            <a:r>
              <a:rPr sz="1800" b="0">
                <a:solidFill>
                  <a:srgbClr val="1F2530"/>
                </a:solidFill>
              </a:rPr>
              <a:t>• 12 of the 14 in-scope worksheet tasks done (3 are operator-infra, out of code scope)</a:t>
            </a:r>
          </a:p>
          <a:p>
            <a:r>
              <a:rPr sz="1800" b="0">
                <a:solidFill>
                  <a:srgbClr val="1F2530"/>
                </a:solidFill>
              </a:rPr>
              <a:t>• Eval harness writes an HTML report against the worksheet's bars: faithfulness ≥ 0.9, ctx-prec ≥ 0.75, ans-rel ≥ 0.85</a:t>
            </a:r>
          </a:p>
          <a:p>
            <a:r>
              <a:rPr sz="1800" b="0">
                <a:solidFill>
                  <a:srgbClr val="1F2530"/>
                </a:solidFill>
              </a:rPr>
              <a:t>• 146 tests, stdlib only, ~0.2 s in CI</a:t>
            </a:r>
          </a:p>
          <a:p>
            <a:r>
              <a:rPr sz="1800" b="0">
                <a:solidFill>
                  <a:srgbClr val="1F2530"/>
                </a:solidFill>
              </a:rPr>
              <a:t>• 7 operator how-to docs in docs/operator-howto/ — Bedrock, AOSS, cross-encoder, real embedder, Langfuse, eval, new-dataset</a:t>
            </a:r>
          </a:p>
          <a:p>
            <a:r>
              <a:rPr sz="1800" b="0">
                <a:solidFill>
                  <a:srgbClr val="1F2530"/>
                </a:solidFill>
              </a:rPr>
              <a:t>• 6-tab architecture diagrams in docs/Design/</a:t>
            </a:r>
          </a:p>
        </p:txBody>
      </p:sp>
      <p:sp>
        <p:nvSpPr>
          <p:cNvPr id="4" name="Rounded Rectangle 3"/>
          <p:cNvSpPr/>
          <p:nvPr/>
        </p:nvSpPr>
        <p:spPr>
          <a:xfrm>
            <a:off x="457200" y="5120640"/>
            <a:ext cx="11247120" cy="1188720"/>
          </a:xfrm>
          <a:prstGeom prst="roundRect">
            <a:avLst/>
          </a:prstGeom>
          <a:solidFill>
            <a:srgbClr val="08434A"/>
          </a:solidFill>
          <a:ln>
            <a:noFill/>
          </a:ln>
        </p:spPr>
        <p:style>
          <a:lnRef idx="1">
            <a:schemeClr val="accent1"/>
          </a:lnRef>
          <a:fillRef idx="3">
            <a:schemeClr val="accent1"/>
          </a:fillRef>
          <a:effectRef idx="2">
            <a:schemeClr val="accent1"/>
          </a:effectRef>
          <a:fontRef idx="minor">
            <a:schemeClr val="lt1"/>
          </a:fontRef>
        </p:style>
        <p:txBody>
          <a:bodyPr rtlCol="0" anchor="ctr" lIns="365760" tIns="182880"/>
          <a:lstStyle/>
          <a:p>
            <a:pPr algn="ctr"/>
            <a:r>
              <a:rPr sz="2000" b="1">
                <a:solidFill>
                  <a:srgbClr val="F0B04A"/>
                </a:solidFill>
              </a:rPr>
              <a:t>⭐  Star the repo</a:t>
            </a:r>
          </a:p>
          <a:p>
            <a:pPr>
              <a:spcBef>
                <a:spcPts val="600"/>
              </a:spcBef>
            </a:pPr>
            <a:r>
              <a:rPr sz="1800">
                <a:solidFill>
                  <a:srgbClr val="FFFFFF"/>
                </a:solidFill>
              </a:rPr>
              <a:t>github.com/javakishore-veleti/Regulated-Healthcare-Practice-Content-RAG</a:t>
            </a:r>
          </a:p>
          <a:p>
            <a:pPr>
              <a:spcBef>
                <a:spcPts val="400"/>
              </a:spcBef>
            </a:pPr>
            <a:r>
              <a:rPr sz="1400" i="1">
                <a:solidFill>
                  <a:srgbClr val="FFFFFF"/>
                </a:solidFill>
              </a:rPr>
              <a:t>Next episode: Project B in the RAG Mastery series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